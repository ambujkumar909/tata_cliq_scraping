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A9BDB6"/>
                </a:solidFill>
                <a:latin typeface="Consolas"/>
              </a:rP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F5E7CC"/>
                </a:solidFill>
                <a:latin typeface="Consolas"/>
              </a:rPr>
              <a:t>01</a:t>
            </a:r>
            <a:r>
              <a:rPr sz="850" spc="220">
                <a:solidFill>
                  <a:srgbClr val="A9BDB6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755648"/>
            <a:ext cx="84124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b="0" i="0">
                <a:solidFill>
                  <a:srgbClr val="F4F2EA"/>
                </a:solidFill>
                <a:latin typeface="Bodoni MT"/>
              </a:rPr>
              <a:t>PriceLens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015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60" cap="all">
                <a:solidFill>
                  <a:srgbClr val="F5E7CC"/>
                </a:solidFill>
                <a:latin typeface="Consolas"/>
              </a:rPr>
              <a:t>Competitive price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85615"/>
            <a:ext cx="6858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A9BDB6"/>
                </a:solidFill>
                <a:latin typeface="Segoe UI Light"/>
              </a:rPr>
              <a:t>Know where you win on price — and where a rival is quietly undercutting you — while you can still do something about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846320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0474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4F2EA"/>
                </a:solidFill>
                <a:latin typeface="Bodoni MT"/>
              </a:rPr>
              <a:t>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5955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A9BDB6"/>
                </a:solidFill>
                <a:latin typeface="Consolas"/>
              </a:rPr>
              <a:t>accurate when it claims a 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86784" y="5084064"/>
            <a:ext cx="7315" cy="786384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50474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4F2EA"/>
                </a:solidFill>
                <a:latin typeface="Bodoni MT"/>
              </a:rPr>
              <a:t>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555955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A9BDB6"/>
                </a:solidFill>
                <a:latin typeface="Consolas"/>
              </a:rPr>
              <a:t>to price a thousand products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5084064"/>
            <a:ext cx="7315" cy="786384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50474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4F2EA"/>
                </a:solidFill>
                <a:latin typeface="Bodoni M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416" y="5559552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A9BDB6"/>
                </a:solidFill>
                <a:latin typeface="Consolas"/>
              </a:rPr>
              <a:t>storefronts, compared side by 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943600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071616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5E7CC"/>
                </a:solidFill>
                <a:latin typeface="Bodoni MT"/>
              </a:rPr>
              <a:t>Paste a link. See every price. Know what to do about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02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The same product. Three storefronts. Three stories.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Every retailer lists one style under its own title, its own colour name and sometimes its own list price. Answering “are we cheaper?” still means a person opening tabs and comparing photographs.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761488"/>
            <a:ext cx="470916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994660"/>
            <a:ext cx="182880" cy="32004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944368"/>
            <a:ext cx="43708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E1A18"/>
                </a:solidFill>
                <a:latin typeface="Segoe UI Semibold"/>
              </a:rPr>
              <a:t>Hours, not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00400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A few hundred products is a week of somebody’s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872483"/>
            <a:ext cx="182880" cy="32004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822191"/>
            <a:ext cx="43708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E1A18"/>
                </a:solidFill>
                <a:latin typeface="Segoe UI Semibold"/>
              </a:rPr>
              <a:t>Answers that expire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078224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By the time the sheet is finished, the prices have already moved.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750308"/>
            <a:ext cx="182880" cy="32004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700016"/>
            <a:ext cx="43708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E1A18"/>
                </a:solidFill>
                <a:latin typeface="Segoe UI Semibold"/>
              </a:rPr>
              <a:t>Margin leaks quietly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956048"/>
            <a:ext cx="4370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You find out you were undercut after the sale, not before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5541264"/>
            <a:ext cx="470916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8756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0403A"/>
                </a:solidFill>
                <a:latin typeface="Bodoni MT"/>
              </a:rPr>
              <a:t>No shared code links these three listings. Somebody has to prove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883664"/>
            <a:ext cx="5358384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2157984"/>
            <a:ext cx="4700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One style, as three retailers describe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18504" y="2450592"/>
            <a:ext cx="470001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18504" y="2656332"/>
            <a:ext cx="41148" cy="603504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10403A"/>
                </a:solidFill>
                <a:latin typeface="Consolas"/>
              </a:rPr>
              <a:t>Your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85292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1A18"/>
                </a:solidFill>
                <a:latin typeface="Segoe UI Semibold"/>
              </a:rPr>
              <a:t>Slim Fit Navy Casual Shirt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9067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8857F"/>
                </a:solidFill>
                <a:latin typeface="Segoe UI"/>
              </a:rPr>
              <a:t>Colour: Navy 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7614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0" i="0">
                <a:solidFill>
                  <a:srgbClr val="0E1A18"/>
                </a:solidFill>
                <a:latin typeface="Segoe UI Semibold"/>
              </a:rPr>
              <a:t>₹1,499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3511296"/>
            <a:ext cx="4700016" cy="10058"/>
          </a:xfrm>
          <a:prstGeom prst="rect">
            <a:avLst/>
          </a:prstGeom>
          <a:solidFill>
            <a:srgbClr val="EB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8504" y="3643884"/>
            <a:ext cx="41148" cy="603504"/>
          </a:xfrm>
          <a:prstGeom prst="rect">
            <a:avLst/>
          </a:prstGeom>
          <a:solidFill>
            <a:srgbClr val="7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027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7E2B4E"/>
                </a:solidFill>
                <a:latin typeface="Consolas"/>
              </a:rPr>
              <a:t>Rival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84048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1A18"/>
                </a:solidFill>
                <a:latin typeface="Segoe UI Semibold"/>
              </a:rPr>
              <a:t>Men Navy Slim Casual Shirt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07822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8857F"/>
                </a:solidFill>
                <a:latin typeface="Segoe UI"/>
              </a:rPr>
              <a:t>Colour: Dark 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74903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0" i="0">
                <a:solidFill>
                  <a:srgbClr val="0E1A18"/>
                </a:solidFill>
                <a:latin typeface="Segoe UI Semibold"/>
              </a:rPr>
              <a:t>₹1,349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8504" y="4498848"/>
            <a:ext cx="4700016" cy="10058"/>
          </a:xfrm>
          <a:prstGeom prst="rect">
            <a:avLst/>
          </a:prstGeom>
          <a:solidFill>
            <a:srgbClr val="EB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18504" y="4631436"/>
            <a:ext cx="41148" cy="603504"/>
          </a:xfrm>
          <a:prstGeom prst="rect">
            <a:avLst/>
          </a:prstGeom>
          <a:solidFill>
            <a:srgbClr val="2C5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5902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2C5D86"/>
                </a:solidFill>
                <a:latin typeface="Consolas"/>
              </a:rPr>
              <a:t>Rival two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828031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E1A18"/>
                </a:solidFill>
                <a:latin typeface="Segoe UI Semibold"/>
              </a:rPr>
              <a:t>Slim Casual Shirt – Blue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65775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8857F"/>
                </a:solidFill>
                <a:latin typeface="Segoe UI"/>
              </a:rPr>
              <a:t>Colour: Indigo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736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0" i="0">
                <a:solidFill>
                  <a:srgbClr val="0E1A18"/>
                </a:solidFill>
                <a:latin typeface="Segoe UI Semibold"/>
              </a:rPr>
              <a:t>₹1,599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18504" y="5504688"/>
            <a:ext cx="470001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18504" y="5650992"/>
            <a:ext cx="1481328" cy="237744"/>
          </a:xfrm>
          <a:prstGeom prst="rect">
            <a:avLst/>
          </a:prstGeom>
          <a:solidFill>
            <a:srgbClr val="F5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8504" y="569899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40" cap="all">
                <a:solidFill>
                  <a:srgbClr val="C07A10"/>
                </a:solidFill>
                <a:latin typeface="Consolas"/>
              </a:rPr>
              <a:t>Same product?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992" y="5641848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0504A"/>
                </a:solidFill>
                <a:latin typeface="Segoe UI"/>
              </a:rPr>
              <a:t>Nothing in the three listings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03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Paste a product link. Get a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The work a person does across a dozen browser tabs — find it, prove it is the same thing, compare the price — finished in about a minute, with the evidence attached.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50592"/>
            <a:ext cx="3310128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50592"/>
            <a:ext cx="3310128" cy="4114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7249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C07A10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9626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E1A18"/>
                </a:solidFill>
                <a:latin typeface="Bodoni MT"/>
              </a:rPr>
              <a:t>Find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419856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Locates the same product on rival marketplaces — not something that merely looks like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" y="3986784"/>
            <a:ext cx="2688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0965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8857F"/>
                </a:solidFill>
                <a:latin typeface="Segoe UI"/>
              </a:rPr>
              <a:t>Searches each storefront its own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4" y="2450592"/>
            <a:ext cx="3310128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3984" y="2450592"/>
            <a:ext cx="3310128" cy="4114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7249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C07A10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9626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E1A18"/>
                </a:solidFill>
                <a:latin typeface="Bodoni MT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19856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Checks that brand, style, colour, fabric, list price and the photograph all 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986784"/>
            <a:ext cx="2688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0965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8857F"/>
                </a:solidFill>
                <a:latin typeface="Segoe UI"/>
              </a:rPr>
              <a:t>A wrong colourway is rejected on sight.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450592"/>
            <a:ext cx="3310128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450592"/>
            <a:ext cx="3310128" cy="4114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27249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C07A10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29626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E1A18"/>
                </a:solidFill>
                <a:latin typeface="Bodoni MT"/>
              </a:rP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419856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Puts the live prices side by side and states what to do about the gap.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7616" y="3986784"/>
            <a:ext cx="2688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40965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8857F"/>
                </a:solidFill>
                <a:latin typeface="Segoe UI"/>
              </a:rPr>
              <a:t>Every figure links back to its listing.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663440"/>
            <a:ext cx="10509199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2144" y="48280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What you see, in one 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2144" y="5065776"/>
            <a:ext cx="9887407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2144" y="5230368"/>
            <a:ext cx="1225296" cy="274320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2144" y="529666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 spc="140" cap="all">
                <a:solidFill>
                  <a:srgbClr val="1D6B4E"/>
                </a:solidFill>
                <a:latin typeface="Consolas"/>
              </a:rPr>
              <a:t>Matched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" y="55778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8857F"/>
                </a:solidFill>
                <a:latin typeface="Segoe UI"/>
              </a:rPr>
              <a:t>High confidence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9504" y="5193792"/>
            <a:ext cx="1627632" cy="676656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35808" y="5303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A9761A"/>
                </a:solidFill>
                <a:latin typeface="Consolas"/>
              </a:rPr>
              <a:t>Your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54955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E1A18"/>
                </a:solidFill>
                <a:latin typeface="Segoe UI Semibold"/>
              </a:rPr>
              <a:t>₹1,499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45152" y="5193792"/>
            <a:ext cx="1627632" cy="676656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1456" y="5303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1D6B4E"/>
                </a:solidFill>
                <a:latin typeface="Consolas"/>
              </a:rPr>
              <a:t>Rival 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1456" y="54955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E1A18"/>
                </a:solidFill>
                <a:latin typeface="Segoe UI Semibold"/>
              </a:rPr>
              <a:t>₹1,349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193792"/>
            <a:ext cx="1627632" cy="676656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47104" y="5303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A33529"/>
                </a:solidFill>
                <a:latin typeface="Consolas"/>
              </a:rPr>
              <a:t>Rival two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54955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E1A18"/>
                </a:solidFill>
                <a:latin typeface="Segoe UI Semibold"/>
              </a:rPr>
              <a:t>₹1,599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2669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33529"/>
                </a:solidFill>
                <a:latin typeface="Segoe UI Semibold"/>
              </a:rPr>
              <a:t>Undercut by ₹150 — 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54126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78857F"/>
                </a:solidFill>
                <a:latin typeface="Segoe UI"/>
              </a:rPr>
              <a:t>Review the price on this style.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Why you can trust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04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It would rather say “not sure” than be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321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A tool that guesses to look complete is worse than no tool — it costs you a repricing decision made on the wrong product. This one speaks only when it can prove the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50592"/>
            <a:ext cx="33101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50592"/>
            <a:ext cx="3310128" cy="41148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2144" y="2724912"/>
            <a:ext cx="146304" cy="146304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7066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 cap="all">
                <a:solidFill>
                  <a:srgbClr val="1D6B4E"/>
                </a:solidFill>
                <a:latin typeface="Consolas"/>
              </a:rPr>
              <a:t>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108960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The same product, proved. Both prices shown, each one a click from the live listing.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" y="3986784"/>
            <a:ext cx="2688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0965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D6B4E"/>
                </a:solidFill>
                <a:latin typeface="Segoe UI"/>
              </a:rPr>
              <a:t>You act on the price.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4" y="2450592"/>
            <a:ext cx="33101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3984" y="2450592"/>
            <a:ext cx="3310128" cy="41148"/>
          </a:xfrm>
          <a:prstGeom prst="rect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724912"/>
            <a:ext cx="146304" cy="146304"/>
          </a:xfrm>
          <a:prstGeom prst="rect">
            <a:avLst/>
          </a:prstGeom>
          <a:solidFill>
            <a:srgbClr val="A9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7066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 cap="all">
                <a:solidFill>
                  <a:srgbClr val="A9761A"/>
                </a:solidFill>
                <a:latin typeface="Consolas"/>
              </a:rPr>
              <a:t>Needs a 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108960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Two close candidates disagree on price. Both are shown; nothing is auto-picked.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986784"/>
            <a:ext cx="2688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0965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9761A"/>
                </a:solidFill>
                <a:latin typeface="Segoe UI"/>
              </a:rPr>
              <a:t>You spend ten seconds choosing.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450592"/>
            <a:ext cx="3310128" cy="19751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450592"/>
            <a:ext cx="3310128" cy="41148"/>
          </a:xfrm>
          <a:prstGeom prst="rect">
            <a:avLst/>
          </a:prstGeom>
          <a:solidFill>
            <a:srgbClr val="78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57616" y="2724912"/>
            <a:ext cx="146304" cy="146304"/>
          </a:xfrm>
          <a:prstGeom prst="rect">
            <a:avLst/>
          </a:prstGeom>
          <a:solidFill>
            <a:srgbClr val="78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7066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80" cap="all">
                <a:solidFill>
                  <a:srgbClr val="78857F"/>
                </a:solidFill>
                <a:latin typeface="Consolas"/>
              </a:rPr>
              <a:t>Not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108960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No proof of a match, so it says so — instead of offering a look-alike.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7616" y="3986784"/>
            <a:ext cx="2688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409651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8857F"/>
                </a:solidFill>
                <a:latin typeface="Segoe UI"/>
              </a:rPr>
              <a:t>You know there is nothing to compare.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86460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0109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 cap="all">
                <a:solidFill>
                  <a:srgbClr val="C07A10"/>
                </a:solidFill>
                <a:latin typeface="Consolas"/>
              </a:rPr>
              <a:t>And it never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5468112"/>
            <a:ext cx="182880" cy="32004"/>
          </a:xfrm>
          <a:prstGeom prst="rect">
            <a:avLst/>
          </a:prstGeom>
          <a:solidFill>
            <a:srgbClr val="78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5358384"/>
            <a:ext cx="2944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E1A18"/>
                </a:solidFill>
                <a:latin typeface="Segoe UI"/>
              </a:rPr>
              <a:t>Guesses a match to fill a gap in the sheet.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3984" y="5468112"/>
            <a:ext cx="182880" cy="32004"/>
          </a:xfrm>
          <a:prstGeom prst="rect">
            <a:avLst/>
          </a:prstGeom>
          <a:solidFill>
            <a:srgbClr val="78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5358384"/>
            <a:ext cx="2944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E1A18"/>
                </a:solidFill>
                <a:latin typeface="Segoe UI"/>
              </a:rPr>
              <a:t>Reads a detail a rival never published as a difference.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5468112"/>
            <a:ext cx="182880" cy="32004"/>
          </a:xfrm>
          <a:prstGeom prst="rect">
            <a:avLst/>
          </a:prstGeom>
          <a:solidFill>
            <a:srgbClr val="78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5358384"/>
            <a:ext cx="2944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E1A18"/>
                </a:solidFill>
                <a:latin typeface="Segoe UI"/>
              </a:rPr>
              <a:t>Accepts the same style in a different colour.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How accurate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05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Graded against 220 independent judgements.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800" b="0" i="0">
                <a:solidFill>
                  <a:srgbClr val="10403A"/>
                </a:solidFill>
                <a:latin typeface="Bodoni MT"/>
              </a:rP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2608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A18"/>
                </a:solidFill>
                <a:latin typeface="Segoe UI Semibold"/>
              </a:rPr>
              <a:t>correct when it claims a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00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Five wrong calls in 220 — every one of them borderline.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712463"/>
            <a:ext cx="42062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85876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C07A10"/>
                </a:solidFill>
                <a:latin typeface="Bodoni MT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49884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A18"/>
                </a:solidFill>
                <a:latin typeface="Segoe UI Semibold"/>
              </a:rPr>
              <a:t>of genuine matches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7316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The rest surface as “needs a look” — flagged for a human, never silently dropped.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431536"/>
            <a:ext cx="42062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7784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8857F"/>
                </a:solidFill>
                <a:latin typeface="Segoe UI"/>
              </a:rPr>
              <a:t>Every round is graded on a fresh random sample of live products, with no overlap between rounds — and can be re-run on demand.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792224"/>
            <a:ext cx="5769864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2066543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Accuracy, round by round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8736" y="2322576"/>
            <a:ext cx="5148072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4871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 cap="all">
                <a:solidFill>
                  <a:srgbClr val="78857F"/>
                </a:solidFill>
                <a:latin typeface="Consolas"/>
              </a:rPr>
              <a:t>Round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267004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8857F"/>
                </a:solidFill>
                <a:latin typeface="Segoe UI"/>
              </a:rPr>
              <a:t>weighted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34656" y="2542032"/>
            <a:ext cx="2523744" cy="146304"/>
          </a:xfrm>
          <a:prstGeom prst="rect">
            <a:avLst/>
          </a:prstGeom>
          <a:solidFill>
            <a:srgbClr val="E9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34656" y="2542032"/>
            <a:ext cx="2246132" cy="146304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2459736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 i="0">
                <a:solidFill>
                  <a:srgbClr val="40504A"/>
                </a:solidFill>
                <a:latin typeface="Bodoni MT"/>
              </a:rPr>
              <a:t>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8736" y="29809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 cap="all">
                <a:solidFill>
                  <a:srgbClr val="78857F"/>
                </a:solidFill>
                <a:latin typeface="Consolas"/>
              </a:rPr>
              <a:t>Round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8736" y="31638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8857F"/>
                </a:solidFill>
                <a:latin typeface="Segoe UI"/>
              </a:rPr>
              <a:t>strict gates added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34656" y="3035808"/>
            <a:ext cx="2523744" cy="146304"/>
          </a:xfrm>
          <a:prstGeom prst="rect">
            <a:avLst/>
          </a:prstGeom>
          <a:solidFill>
            <a:srgbClr val="E9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34656" y="3035808"/>
            <a:ext cx="2372319" cy="146304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2953512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 i="0">
                <a:solidFill>
                  <a:srgbClr val="40504A"/>
                </a:solidFill>
                <a:latin typeface="Bodoni MT"/>
              </a:rPr>
              <a:t>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34747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 cap="all">
                <a:solidFill>
                  <a:srgbClr val="78857F"/>
                </a:solidFill>
                <a:latin typeface="Consolas"/>
              </a:rPr>
              <a:t>Round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365760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8857F"/>
                </a:solidFill>
                <a:latin typeface="Segoe UI"/>
              </a:rPr>
              <a:t>colour and recall fixes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34656" y="3529584"/>
            <a:ext cx="2523744" cy="146304"/>
          </a:xfrm>
          <a:prstGeom prst="rect">
            <a:avLst/>
          </a:prstGeom>
          <a:solidFill>
            <a:srgbClr val="E9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34656" y="3529584"/>
            <a:ext cx="2422794" cy="146304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3447288"/>
            <a:ext cx="8595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 i="0">
                <a:solidFill>
                  <a:srgbClr val="0E1A18"/>
                </a:solidFill>
                <a:latin typeface="Bodoni MT"/>
              </a:rPr>
              <a:t>96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4242816"/>
            <a:ext cx="5769864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88736" y="451713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By rival marketplace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8736" y="4773168"/>
            <a:ext cx="5148072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88736" y="4919472"/>
            <a:ext cx="23774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0" i="0">
                <a:solidFill>
                  <a:srgbClr val="10403A"/>
                </a:solidFill>
                <a:latin typeface="Bodoni MT"/>
              </a:rPr>
              <a:t>95%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8736" y="550468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78857F"/>
                </a:solidFill>
                <a:latin typeface="Consolas"/>
              </a:rPr>
              <a:t>Rival 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8736" y="57058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8857F"/>
                </a:solidFill>
                <a:latin typeface="Segoe UI"/>
              </a:rPr>
              <a:t>110 decisions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4956048"/>
            <a:ext cx="7315" cy="786384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1936" y="4919472"/>
            <a:ext cx="23774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0" i="0">
                <a:solidFill>
                  <a:srgbClr val="10403A"/>
                </a:solidFill>
                <a:latin typeface="Bodoni MT"/>
              </a:rPr>
              <a:t>97%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1936" y="550468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78857F"/>
                </a:solidFill>
                <a:latin typeface="Consolas"/>
              </a:rPr>
              <a:t>Rival two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1936" y="57058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8857F"/>
                </a:solidFill>
                <a:latin typeface="Segoe UI"/>
              </a:rPr>
              <a:t>110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Using it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06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One link. About a minute.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No training, no template, no set-up. If you can copy a link, you can use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395728"/>
            <a:ext cx="452628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C07A10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55117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E1A18"/>
                </a:solidFill>
                <a:latin typeface="Segoe UI Semibold"/>
              </a:rPr>
              <a:t>Copy the product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80720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From your own storefront — any product page will 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9300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C07A10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4728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E1A18"/>
                </a:solidFill>
                <a:latin typeface="Segoe UI Semibold"/>
              </a:rPr>
              <a:t>Paste it into the 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033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It works even for products outside your uploaded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8911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C07A10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343399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E1A18"/>
                </a:solidFill>
                <a:latin typeface="Segoe UI Semibold"/>
              </a:rPr>
              <a:t>Read the verdict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599431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Three prices, the gap, and the recommended 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5285232"/>
            <a:ext cx="452628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3949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 i="0">
                <a:solidFill>
                  <a:srgbClr val="78857F"/>
                </a:solidFill>
                <a:latin typeface="Segoe UI"/>
              </a:rPr>
              <a:t>Everything you look up stays pinned under Recent for two days, so you can get back to it without hunting for the link again.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94360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10403A"/>
                </a:solidFill>
                <a:latin typeface="Bodoni MT"/>
              </a:rPr>
              <a:t>Nothing to install. It runs in the browser.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792224"/>
            <a:ext cx="5586984" cy="426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792224"/>
            <a:ext cx="5586984" cy="457200"/>
          </a:xfrm>
          <a:prstGeom prst="rect">
            <a:avLst/>
          </a:prstGeom>
          <a:solidFill>
            <a:srgbClr val="E9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53328" y="1911095"/>
            <a:ext cx="3840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1952243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8857F"/>
                </a:solidFill>
                <a:latin typeface="Consolas"/>
              </a:rPr>
              <a:t>paste a product link...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03536" y="1911095"/>
            <a:ext cx="1051560" cy="237744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03536" y="195910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140" cap="all">
                <a:solidFill>
                  <a:srgbClr val="F4F2EA"/>
                </a:solidFill>
                <a:latin typeface="Consolas"/>
              </a:rP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243230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2670048"/>
            <a:ext cx="5001768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53328" y="2816352"/>
            <a:ext cx="914400" cy="1097280"/>
          </a:xfrm>
          <a:prstGeom prst="rect">
            <a:avLst/>
          </a:prstGeom>
          <a:solidFill>
            <a:srgbClr val="E9ECE5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2735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>
                <a:solidFill>
                  <a:srgbClr val="A9BDB6"/>
                </a:solidFill>
                <a:latin typeface="Consolas"/>
              </a:rPr>
              <a:t>IMG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8346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60" cap="all">
                <a:solidFill>
                  <a:srgbClr val="10403A"/>
                </a:solidFill>
                <a:latin typeface="Consolas"/>
              </a:rPr>
              <a:t>Your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0540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1A18"/>
                </a:solidFill>
                <a:latin typeface="Segoe UI Semibold"/>
              </a:rPr>
              <a:t>Slim Fit Navy Casual Shirt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346704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78857F"/>
                </a:solidFill>
                <a:latin typeface="Segoe UI"/>
              </a:rPr>
              <a:t>Navy Blue  ·  Cotton  ·  Slim fit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3621024"/>
            <a:ext cx="1225296" cy="23774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3669030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40" cap="all">
                <a:solidFill>
                  <a:srgbClr val="1D6B4E"/>
                </a:solidFill>
                <a:latin typeface="Consolas"/>
              </a:rPr>
              <a:t>Matched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8" y="4114800"/>
            <a:ext cx="1581912" cy="731520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423367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A9761A"/>
                </a:solidFill>
                <a:latin typeface="Consolas"/>
              </a:rPr>
              <a:t>Your 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0488" y="44348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E1A18"/>
                </a:solidFill>
                <a:latin typeface="Segoe UI Semibold"/>
              </a:rPr>
              <a:t>₹1,499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63256" y="4114800"/>
            <a:ext cx="1581912" cy="731520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0416" y="423367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1D6B4E"/>
                </a:solidFill>
                <a:latin typeface="Consolas"/>
              </a:rPr>
              <a:t>Rival 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0416" y="44348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E1A18"/>
                </a:solidFill>
                <a:latin typeface="Segoe UI Semibold"/>
              </a:rPr>
              <a:t>₹1,349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73184" y="4114800"/>
            <a:ext cx="1581912" cy="731520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10344" y="423367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A33529"/>
                </a:solidFill>
                <a:latin typeface="Consolas"/>
              </a:rPr>
              <a:t>Rival two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0344" y="44348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E1A18"/>
                </a:solidFill>
                <a:latin typeface="Segoe UI Semibold"/>
              </a:rPr>
              <a:t>₹1,599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53328" y="5029200"/>
            <a:ext cx="5001768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8" y="5157216"/>
            <a:ext cx="5001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33529"/>
                </a:solidFill>
                <a:latin typeface="Segoe UI Semibold"/>
              </a:rPr>
              <a:t>A rival is ₹150 cheaper (10%). Review the price on this style.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5431536"/>
            <a:ext cx="5001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8857F"/>
                </a:solidFill>
                <a:latin typeface="Segoe UI"/>
              </a:rPr>
              <a:t>Match proved on brand, style code, colour, fabric and list price.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53328" y="5687568"/>
            <a:ext cx="5001768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8" y="5797296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C07A10"/>
                </a:solidFill>
                <a:latin typeface="Consolas"/>
              </a:rPr>
              <a:t>Verify on rival one   ·   Verify on rival two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Using it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07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What the report tells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Five questions, answered side by side for your listing and each rival — with a link to every live page the numbers came from.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50592"/>
            <a:ext cx="193852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50592"/>
            <a:ext cx="1938528" cy="4114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8833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10403A"/>
                </a:solidFill>
                <a:latin typeface="Consolas"/>
              </a:rPr>
              <a:t>The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" y="294436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90672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Photo, brand, colour, fabric, fit and pattern, lined up against each rival.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422452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33425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0403A"/>
                </a:solidFill>
                <a:latin typeface="Segoe UI Semibold"/>
              </a:rPr>
              <a:t>Navy Blue vs Dark Blue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3687" y="2450592"/>
            <a:ext cx="193852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83687" y="2450592"/>
            <a:ext cx="1938528" cy="41148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1431" y="268833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1D5A52"/>
                </a:solidFill>
                <a:latin typeface="Consolas"/>
              </a:rPr>
              <a:t>The price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1431" y="294436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1431" y="3090672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List price, selling price, discount, offers, delivery, returns, stock and seller.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1431" y="422452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1431" y="433425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5A52"/>
                </a:solidFill>
                <a:latin typeface="Segoe UI Semibold"/>
              </a:rPr>
              <a:t>₹1,499 vs ₹1,349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6126" y="2450592"/>
            <a:ext cx="193852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6126" y="2450592"/>
            <a:ext cx="1938528" cy="41148"/>
          </a:xfrm>
          <a:prstGeom prst="rect">
            <a:avLst/>
          </a:prstGeom>
          <a:solidFill>
            <a:srgbClr val="3E7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3870" y="268833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3E7C73"/>
                </a:solidFill>
                <a:latin typeface="Consolas"/>
              </a:rPr>
              <a:t>The detail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63870" y="294436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3870" y="3090672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Fabric composition, wash care, sizes in stock, size chart and origin.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63870" y="422452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63870" y="433425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E7C73"/>
                </a:solidFill>
                <a:latin typeface="Segoe UI Semibold"/>
              </a:rPr>
              <a:t>S, M, L, XL · XXL 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8565" y="2450592"/>
            <a:ext cx="193852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8565" y="2450592"/>
            <a:ext cx="1938528" cy="41148"/>
          </a:xfrm>
          <a:prstGeom prst="rect">
            <a:avLst/>
          </a:prstGeom>
          <a:solidFill>
            <a:srgbClr val="6D9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6309" y="268833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6D9C95"/>
                </a:solidFill>
                <a:latin typeface="Consolas"/>
              </a:rPr>
              <a:t>The listing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06309" y="294436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6309" y="3090672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Description depth, bullets, images, video, rating and how many people rated.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6309" y="422452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6309" y="433425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D9C95"/>
                </a:solidFill>
                <a:latin typeface="Segoe UI Semibold"/>
              </a:rPr>
              <a:t>4.2 from 912 ratings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1004" y="2450592"/>
            <a:ext cx="193852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1004" y="2450592"/>
            <a:ext cx="1938528" cy="411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8748" y="268833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 cap="all">
                <a:solidFill>
                  <a:srgbClr val="C07A10"/>
                </a:solidFill>
                <a:latin typeface="Consolas"/>
              </a:rPr>
              <a:t>The verdict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8748" y="294436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8748" y="3090672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How confident the match is, and the action it recommends.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8748" y="4224528"/>
            <a:ext cx="1463040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8748" y="433425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07A10"/>
                </a:solidFill>
                <a:latin typeface="Segoe UI Semibold"/>
              </a:rPr>
              <a:t>Undercut · review price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4974336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13892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Rule 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37667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0E1A18"/>
                </a:solidFill>
                <a:latin typeface="Segoe UI"/>
              </a:rPr>
              <a:t>A blank cell means they never published it — not that it differs from yours. Inventing a difference would be worse than showing nothing.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513892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Rule two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8" y="537667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0E1A18"/>
                </a:solidFill>
                <a:latin typeface="Segoe UI"/>
              </a:rPr>
              <a:t>A 4.9 from three buyers is not better than a 4.2 from nine hundred, so every rating carries its count and is never scored higher-is-better.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Using it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08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A whole spreadsheet, in one 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Thousands of products at once. Upload the sheet you already have — the column names do not have to match anything.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8716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27732"/>
            <a:ext cx="128016" cy="128016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0662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0779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E1A18"/>
                </a:solidFill>
                <a:latin typeface="Bodoni MT"/>
              </a:rPr>
              <a:t>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328416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Any layout. It reads every sheet and keeps whatever resolves to a product.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224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78857F"/>
                </a:solidFill>
                <a:latin typeface="Segoe UI"/>
              </a:rPr>
              <a:t>Links, hyperlinks or bare ids.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11296" y="2427732"/>
            <a:ext cx="128016" cy="128016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270662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90779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E1A18"/>
                </a:solidFill>
                <a:latin typeface="Bodoni MT"/>
              </a:rPr>
              <a:t>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3328416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See rows scanned, links found and duplicates merged, with a time estimate, before anything runs.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4224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78857F"/>
                </a:solidFill>
                <a:latin typeface="Segoe UI"/>
              </a:rPr>
              <a:t>Nothing is checked until you say 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427732"/>
            <a:ext cx="128016" cy="128016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70662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90779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E1A18"/>
                </a:solidFill>
                <a:latin typeface="Bodoni MT"/>
              </a:rPr>
              <a:t>Leave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28416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It works in the background. Close the laptop; an interrupted run picks up where it stopped.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224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78857F"/>
                </a:solidFill>
                <a:latin typeface="Segoe UI"/>
              </a:rPr>
              <a:t>One dead link cannot stop the rest.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392" y="2427732"/>
            <a:ext cx="128016" cy="128016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270662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Step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90779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E1A18"/>
                </a:solidFill>
                <a:latin typeface="Bodoni MT"/>
              </a:rPr>
              <a:t>Download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3328416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40504A"/>
                </a:solidFill>
                <a:latin typeface="Segoe UI"/>
              </a:rPr>
              <a:t>The finished workbook, ready to filter, pivot and circulate.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4224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78857F"/>
                </a:solidFill>
                <a:latin typeface="Segoe UI"/>
              </a:rPr>
              <a:t>The same export as everywhere 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718304"/>
            <a:ext cx="10509199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2144" y="491947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0403A"/>
                </a:solidFill>
                <a:latin typeface="Bodoni MT"/>
              </a:rPr>
              <a:t>1,000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" y="54132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78857F"/>
                </a:solidFill>
                <a:latin typeface="Consolas"/>
              </a:rPr>
              <a:t>products priced every half hour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4937760"/>
            <a:ext cx="7315" cy="74980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3" y="491947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0403A"/>
                </a:solidFill>
                <a:latin typeface="Bodoni MT"/>
              </a:rPr>
              <a:t>10,000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3" y="54132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78857F"/>
                </a:solidFill>
                <a:latin typeface="Consolas"/>
              </a:rPr>
              <a:t>row sheet tested end to 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61888" y="4937760"/>
            <a:ext cx="7315" cy="74980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3" y="491947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0403A"/>
                </a:solidFill>
                <a:latin typeface="Bodoni MT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3" y="54132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78857F"/>
                </a:solidFill>
                <a:latin typeface="Consolas"/>
              </a:rPr>
              <a:t>rows lost to an interruption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7" y="4937760"/>
            <a:ext cx="7315" cy="74980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33103" y="491947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0403A"/>
                </a:solidFill>
                <a:latin typeface="Bodoni MT"/>
              </a:rPr>
              <a:t>Instant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3103" y="541324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78857F"/>
                </a:solidFill>
                <a:latin typeface="Consolas"/>
              </a:rPr>
              <a:t>on a re-run of last week’s sheet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6016752"/>
            <a:ext cx="10509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8857F"/>
                </a:solidFill>
                <a:latin typeface="Segoe UI"/>
              </a:rPr>
              <a:t>If your sheet already names the rival’s link, the result reports where the tool independently agreed — a free scorecard on its own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Using it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09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The file that goes into the meeting.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Not a data dump. The three prices are ranked in place — cheapest green, dearest red — and every row ends with a recommendation.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50592"/>
            <a:ext cx="6126480" cy="329184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528316"/>
            <a:ext cx="18836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F4F2EA"/>
                </a:solidFill>
                <a:latin typeface="Consolas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528316"/>
            <a:ext cx="649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40" cap="all">
                <a:solidFill>
                  <a:srgbClr val="F4F2EA"/>
                </a:solidFill>
                <a:latin typeface="Consolas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528316"/>
            <a:ext cx="649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40" cap="all">
                <a:solidFill>
                  <a:srgbClr val="F4F2EA"/>
                </a:solidFill>
                <a:latin typeface="Consolas"/>
              </a:rPr>
              <a:t>Rival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528316"/>
            <a:ext cx="649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40" cap="all">
                <a:solidFill>
                  <a:srgbClr val="F4F2EA"/>
                </a:solidFill>
                <a:latin typeface="Consolas"/>
              </a:rPr>
              <a:t>Rival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528316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F4F2EA"/>
                </a:solidFill>
                <a:latin typeface="Consolas"/>
              </a:rPr>
              <a:t>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232404"/>
            <a:ext cx="6126480" cy="10058"/>
          </a:xfrm>
          <a:prstGeom prst="rect">
            <a:avLst/>
          </a:prstGeom>
          <a:solidFill>
            <a:srgbClr val="E7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2150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E1A18"/>
                </a:solidFill>
                <a:latin typeface="Segoe UI"/>
              </a:rPr>
              <a:t>Slim Fit Navy Shirt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843784"/>
            <a:ext cx="777240" cy="329184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29215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₹1,499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2843784"/>
            <a:ext cx="777240" cy="32918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7" y="29215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₹1,349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448" y="2843784"/>
            <a:ext cx="777240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9215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₹1,599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0136" y="2843784"/>
            <a:ext cx="1197864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4" y="29215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33529"/>
                </a:solidFill>
                <a:latin typeface="Segoe UI Semibold"/>
              </a:rPr>
              <a:t>Undercut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3236976"/>
            <a:ext cx="6126480" cy="457200"/>
          </a:xfrm>
          <a:prstGeom prst="rect">
            <a:avLst/>
          </a:prstGeom>
          <a:solidFill>
            <a:srgbClr val="F8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3689604"/>
            <a:ext cx="6126480" cy="10058"/>
          </a:xfrm>
          <a:prstGeom prst="rect">
            <a:avLst/>
          </a:prstGeom>
          <a:solidFill>
            <a:srgbClr val="E7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37870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E1A18"/>
                </a:solidFill>
                <a:latin typeface="Segoe UI"/>
              </a:rPr>
              <a:t>Cotton Chino Trouser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90088" y="3300984"/>
            <a:ext cx="777240" cy="32918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33787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₹2,199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8" y="3300984"/>
            <a:ext cx="777240" cy="329184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4487" y="33787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₹2,399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27448" y="3300984"/>
            <a:ext cx="777240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33787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₹2,499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0136" y="3300984"/>
            <a:ext cx="1197864" cy="32918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9864" y="33787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6B4E"/>
                </a:solidFill>
                <a:latin typeface="Segoe UI Semibold"/>
              </a:rPr>
              <a:t>You cheapest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4146804"/>
            <a:ext cx="6126480" cy="10058"/>
          </a:xfrm>
          <a:prstGeom prst="rect">
            <a:avLst/>
          </a:prstGeom>
          <a:solidFill>
            <a:srgbClr val="E7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383590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E1A18"/>
                </a:solidFill>
                <a:latin typeface="Segoe UI"/>
              </a:rPr>
              <a:t>Printed Crew Tee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90088" y="3758184"/>
            <a:ext cx="777240" cy="329184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38359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₹799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58768" y="3758184"/>
            <a:ext cx="777240" cy="329184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4487" y="38359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₹799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27448" y="3758184"/>
            <a:ext cx="777240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38359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₹849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0136" y="3758184"/>
            <a:ext cx="1197864" cy="329184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4" y="38359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9761A"/>
                </a:solidFill>
                <a:latin typeface="Segoe UI Semibold"/>
              </a:rPr>
              <a:t>Parity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" y="4151376"/>
            <a:ext cx="6126480" cy="457200"/>
          </a:xfrm>
          <a:prstGeom prst="rect">
            <a:avLst/>
          </a:prstGeom>
          <a:solidFill>
            <a:srgbClr val="F8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" y="4604004"/>
            <a:ext cx="6126480" cy="10058"/>
          </a:xfrm>
          <a:prstGeom prst="rect">
            <a:avLst/>
          </a:prstGeom>
          <a:solidFill>
            <a:srgbClr val="E7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" y="429310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E1A18"/>
                </a:solidFill>
                <a:latin typeface="Segoe UI"/>
              </a:rPr>
              <a:t>Textured Polo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90088" y="4215384"/>
            <a:ext cx="777240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35808" y="4293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₹1,299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58768" y="4215384"/>
            <a:ext cx="777240" cy="329184"/>
          </a:xfrm>
          <a:prstGeom prst="rect">
            <a:avLst/>
          </a:prstGeom>
          <a:solidFill>
            <a:srgbClr val="F7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04487" y="4293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₹1,149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27448" y="4215384"/>
            <a:ext cx="777240" cy="32918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73168" y="4293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₹1,099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0136" y="4215384"/>
            <a:ext cx="1197864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9864" y="42931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33529"/>
                </a:solidFill>
                <a:latin typeface="Segoe UI Semibold"/>
              </a:rPr>
              <a:t>Undercut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" y="5061204"/>
            <a:ext cx="6126480" cy="10058"/>
          </a:xfrm>
          <a:prstGeom prst="rect">
            <a:avLst/>
          </a:prstGeom>
          <a:solidFill>
            <a:srgbClr val="E7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76" y="475030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E1A18"/>
                </a:solidFill>
                <a:latin typeface="Segoe UI"/>
              </a:rPr>
              <a:t>Linen Blend Shirt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90088" y="4672584"/>
            <a:ext cx="777240" cy="32918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35808" y="47503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₹2,999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4487" y="47503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78857F"/>
                </a:solidFill>
                <a:latin typeface="Segoe UI"/>
              </a:rPr>
              <a:t>Not listed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27448" y="4672584"/>
            <a:ext cx="777240" cy="329184"/>
          </a:xfrm>
          <a:prstGeom prst="rect">
            <a:avLst/>
          </a:prstGeom>
          <a:solidFill>
            <a:srgbClr val="F6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73168" y="47503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0E1A18"/>
                </a:solidFill>
                <a:latin typeface="Segoe UI Semibold"/>
              </a:rPr>
              <a:t>₹3,199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0136" y="4672584"/>
            <a:ext cx="1197864" cy="329184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9864" y="47503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6B4E"/>
                </a:solidFill>
                <a:latin typeface="Segoe UI Semibold"/>
              </a:rPr>
              <a:t>You cheapest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5175504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spc="140" cap="all">
                <a:solidFill>
                  <a:srgbClr val="78857F"/>
                </a:solidFill>
                <a:latin typeface="Consolas"/>
              </a:rPr>
              <a:t>Prices ranked in place  ·  cheapest, middle, dearest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42048" y="2450592"/>
            <a:ext cx="41056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42048" y="2450592"/>
            <a:ext cx="4105656" cy="4114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9792" y="26517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10403A"/>
                </a:solidFill>
                <a:latin typeface="Consolas"/>
              </a:rPr>
              <a:t>Summary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79792" y="287121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40504A"/>
                </a:solidFill>
                <a:latin typeface="Segoe UI"/>
              </a:rPr>
              <a:t>Coverage, match rate, where you are cheapest and dearest, total exposure — split by category, gender and brand.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42048" y="3456432"/>
            <a:ext cx="41056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42048" y="3456432"/>
            <a:ext cx="4105656" cy="4114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9792" y="36576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10403A"/>
                </a:solidFill>
                <a:latin typeface="Consolas"/>
              </a:rPr>
              <a:t>Comparison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79792" y="387705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40504A"/>
                </a:solidFill>
                <a:latin typeface="Segoe UI"/>
              </a:rPr>
              <a:t>One row per product, frozen header, filter-ready, with numbers that actually add up.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42048" y="4462272"/>
            <a:ext cx="410565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42048" y="4462272"/>
            <a:ext cx="4105656" cy="411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79792" y="46634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C07A10"/>
                </a:solidFill>
                <a:latin typeface="Consolas"/>
              </a:rPr>
              <a:t>Action list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79792" y="488289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40504A"/>
                </a:solidFill>
                <a:latin typeface="Segoe UI"/>
              </a:rPr>
              <a:t>Only the products a rival undercuts, worst gap first. The shortlist to work through.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42048" y="5431536"/>
            <a:ext cx="4105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10403A"/>
                </a:solidFill>
                <a:latin typeface="Bodoni MT"/>
              </a:rPr>
              <a:t>Three sheets, one workbook.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1248" y="577900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8" y="5907024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0504A"/>
                </a:solidFill>
                <a:latin typeface="Segoe UI"/>
              </a:rPr>
              <a:t>Also produced as a landscape PDF. Filter by category, gender, brand, price band or position — the file names itself, and states inside which filters produced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Where it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10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One tool, six jobs.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The same comparison answers a different question depending on who opens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304288"/>
            <a:ext cx="33375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304288"/>
            <a:ext cx="41148" cy="17556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542032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Pricing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798064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E1A18"/>
                </a:solidFill>
                <a:latin typeface="Bodoni MT"/>
              </a:rPr>
              <a:t>Who undercut us overnight?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144" y="3346704"/>
            <a:ext cx="402336" cy="1005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474720"/>
            <a:ext cx="2715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Open the action list and reprice the worst gaps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696" y="2304288"/>
            <a:ext cx="33375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5696" y="2304288"/>
            <a:ext cx="41148" cy="1755648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542032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798064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E1A18"/>
                </a:solidFill>
                <a:latin typeface="Bodoni MT"/>
              </a:rPr>
              <a:t>Which lines leak margin?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3346704"/>
            <a:ext cx="402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3474720"/>
            <a:ext cx="2715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The summary splits position and exposure by category.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2304288"/>
            <a:ext cx="33375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2304288"/>
            <a:ext cx="41148" cy="1755648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542032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Buying &amp; vendors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98064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E1A18"/>
                </a:solidFill>
                <a:latin typeface="Bodoni MT"/>
              </a:rPr>
              <a:t>Cheaper on a rival site?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346704"/>
            <a:ext cx="402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474720"/>
            <a:ext cx="2715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Bring evidence to the partner conversation, with links.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4187952"/>
            <a:ext cx="33375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" y="4187952"/>
            <a:ext cx="41148" cy="17556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2144" y="4425696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4681728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E1A18"/>
                </a:solidFill>
                <a:latin typeface="Bodoni MT"/>
              </a:rPr>
              <a:t>Will this promotion win?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144" y="5230368"/>
            <a:ext cx="402336" cy="1005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2144" y="5358384"/>
            <a:ext cx="2715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Check the discount beats the market before it runs.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5696" y="4187952"/>
            <a:ext cx="33375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25696" y="4187952"/>
            <a:ext cx="41148" cy="1755648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4425696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Leadership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4681728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E1A18"/>
                </a:solidFill>
                <a:latin typeface="Bodoni MT"/>
              </a:rPr>
              <a:t>Where do we stand today?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36592" y="5230368"/>
            <a:ext cx="402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5358384"/>
            <a:ext cx="2715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One file: coverage, match rate and total exposure.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0144" y="4187952"/>
            <a:ext cx="33375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10144" y="4187952"/>
            <a:ext cx="41148" cy="1755648"/>
          </a:xfrm>
          <a:prstGeom prst="rect">
            <a:avLst/>
          </a:prstGeom>
          <a:solidFill>
            <a:srgbClr val="1D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425696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78857F"/>
                </a:solidFill>
                <a:latin typeface="Consolas"/>
              </a:rPr>
              <a:t>Audit &amp; onboarding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681728"/>
            <a:ext cx="2715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E1A18"/>
                </a:solidFill>
                <a:latin typeface="Bodoni MT"/>
              </a:rPr>
              <a:t>Does this sheet hold up?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5230368"/>
            <a:ext cx="402336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5358384"/>
            <a:ext cx="2715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Hand the sheet in, get a priced comparison 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11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What it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The gain is not another report. It is how few hours it takes to know, and how early you know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267712"/>
            <a:ext cx="10509199" cy="1664208"/>
          </a:xfrm>
          <a:prstGeom prst="rect">
            <a:avLst/>
          </a:prstGeom>
          <a:solidFill>
            <a:srgbClr val="1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52374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A9BDB6"/>
                </a:solidFill>
                <a:latin typeface="Consolas"/>
              </a:rPr>
              <a:t>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761488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A9BDB6"/>
                </a:solidFill>
                <a:latin typeface="Bodoni MT"/>
              </a:rPr>
              <a:t>50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4015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9BDB6"/>
                </a:solidFill>
                <a:latin typeface="Segoe UI"/>
              </a:rPr>
              <a:t>opening tabs, one product at a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81635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C07A10"/>
                </a:solidFill>
                <a:latin typeface="Segoe UI Ligh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52374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80" cap="all">
                <a:solidFill>
                  <a:srgbClr val="F5E7CC"/>
                </a:solidFill>
                <a:latin typeface="Consolas"/>
              </a:rPr>
              <a:t>With PriceLens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706624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F4F2EA"/>
                </a:solidFill>
                <a:latin typeface="Bodoni MT"/>
              </a:rPr>
              <a:t>30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34381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5E7CC"/>
                </a:solidFill>
                <a:latin typeface="Segoe UI"/>
              </a:rPr>
              <a:t>unattended, then a finished workbook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2208" y="2523744"/>
            <a:ext cx="7315" cy="1152144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5603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30" b="0" i="0">
                <a:solidFill>
                  <a:srgbClr val="A9BDB6"/>
                </a:solidFill>
                <a:latin typeface="Segoe UI"/>
              </a:rPr>
              <a:t>A sweep of a thousand products. The manual figure assumes three minutes each across two rivals — our estimate, not a measurement.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169663"/>
            <a:ext cx="33101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169663"/>
            <a:ext cx="3310128" cy="4114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4425696"/>
            <a:ext cx="26883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E1A18"/>
                </a:solidFill>
                <a:latin typeface="Bodoni MT"/>
              </a:rPr>
              <a:t>Before, not after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2144" y="4901184"/>
            <a:ext cx="457200" cy="1005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5047488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Undercuts surface while you can still change the price, instead of appearing in the month-end margin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4169663"/>
            <a:ext cx="33101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3984" y="4169663"/>
            <a:ext cx="3310128" cy="4114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425696"/>
            <a:ext cx="26883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E1A18"/>
                </a:solidFill>
                <a:latin typeface="Bodoni MT"/>
              </a:rPr>
              <a:t>Proof attached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4901184"/>
            <a:ext cx="457200" cy="1005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5047488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Every number sits one click from the live listing, so nobody in the room has to take the file on trust.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169663"/>
            <a:ext cx="33101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169663"/>
            <a:ext cx="3310128" cy="4114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4425696"/>
            <a:ext cx="26883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0E1A18"/>
                </a:solidFill>
                <a:latin typeface="Bodoni MT"/>
              </a:rPr>
              <a:t>Cheap to repeat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57616" y="4901184"/>
            <a:ext cx="457200" cy="1005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5047488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80" b="0" i="0">
                <a:solidFill>
                  <a:srgbClr val="40504A"/>
                </a:solidFill>
                <a:latin typeface="Segoe UI"/>
              </a:rPr>
              <a:t>Run the same sheet next week and most of it comes back instantly, because the answers are kept.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78857F"/>
                </a:solidFill>
                <a:latin typeface="Consolas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C07A10"/>
                </a:solidFill>
                <a:latin typeface="Consolas"/>
              </a:rPr>
              <a:t>12</a:t>
            </a:r>
            <a:r>
              <a:rPr sz="850" spc="220">
                <a:solidFill>
                  <a:srgbClr val="78857F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78857F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0E1A18"/>
                </a:solidFill>
                <a:latin typeface="Bodoni MT"/>
              </a:rPr>
              <a:t>What it can, and cannot, tell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40504A"/>
                </a:solidFill>
                <a:latin typeface="Segoe UI Light"/>
              </a:rPr>
              <a:t>A pricing tool earns its place by being straight about its edges. Here are both sides, stated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32304"/>
            <a:ext cx="502920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32304"/>
            <a:ext cx="5029200" cy="41148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 cap="all">
                <a:solidFill>
                  <a:srgbClr val="1D6B4E"/>
                </a:solidFill>
                <a:latin typeface="Consolas"/>
              </a:rPr>
              <a:t>It 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2944368"/>
            <a:ext cx="4370832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" y="3159252"/>
            <a:ext cx="118872" cy="118872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309067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Prove two listings are the same product, and price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0432" y="3525012"/>
            <a:ext cx="118872" cy="118872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345643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Show offers, delivery, returns and which sizes are in stock.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0432" y="3890772"/>
            <a:ext cx="118872" cy="118872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3822191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Rank you cheapest, at parity, or dearest on every product.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0432" y="4256532"/>
            <a:ext cx="118872" cy="118872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418795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Flag every product a rival is currently undercutting.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32" y="4622292"/>
            <a:ext cx="118872" cy="118872"/>
          </a:xfrm>
          <a:prstGeom prst="rect">
            <a:avLst/>
          </a:prstGeom>
          <a:solidFill>
            <a:srgbClr val="1D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4752" y="455371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Point to the live page behind every figure it prints.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18504" y="2432304"/>
            <a:ext cx="502920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18504" y="2432304"/>
            <a:ext cx="5029200" cy="41148"/>
          </a:xfrm>
          <a:prstGeom prst="rect">
            <a:avLst/>
          </a:prstGeom>
          <a:solidFill>
            <a:srgbClr val="A33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 cap="all">
                <a:solidFill>
                  <a:srgbClr val="A33529"/>
                </a:solidFill>
                <a:latin typeface="Consolas"/>
              </a:rPr>
              <a:t>It cannot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2944368"/>
            <a:ext cx="4370832" cy="10058"/>
          </a:xfrm>
          <a:prstGeom prst="rect">
            <a:avLst/>
          </a:prstGeom>
          <a:solidFill>
            <a:srgbClr val="D6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47688" y="3159252"/>
            <a:ext cx="118872" cy="118872"/>
          </a:xfrm>
          <a:prstGeom prst="rect">
            <a:avLst/>
          </a:prstGeom>
          <a:solidFill>
            <a:srgbClr val="D8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2008" y="309067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Promise absolute certainty — no shared barcode exists.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47688" y="3525012"/>
            <a:ext cx="118872" cy="118872"/>
          </a:xfrm>
          <a:prstGeom prst="rect">
            <a:avLst/>
          </a:prstGeom>
          <a:solidFill>
            <a:srgbClr val="D8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345643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Read every last detail from every rival without extra set-up.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47688" y="3890772"/>
            <a:ext cx="118872" cy="118872"/>
          </a:xfrm>
          <a:prstGeom prst="rect">
            <a:avLst/>
          </a:prstGeom>
          <a:solidFill>
            <a:srgbClr val="D8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2008" y="3822191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Tell you a rival’s cost, their margin, or their intent.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7688" y="4256532"/>
            <a:ext cx="118872" cy="118872"/>
          </a:xfrm>
          <a:prstGeom prst="rect">
            <a:avLst/>
          </a:prstGeom>
          <a:solidFill>
            <a:srgbClr val="D8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22008" y="418795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Decide the borderline cases — it hands those to you.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7688" y="4622292"/>
            <a:ext cx="118872" cy="118872"/>
          </a:xfrm>
          <a:prstGeom prst="rect">
            <a:avLst/>
          </a:prstGeom>
          <a:solidFill>
            <a:srgbClr val="D8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22008" y="4553712"/>
            <a:ext cx="4096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0504A"/>
                </a:solidFill>
                <a:latin typeface="Segoe UI"/>
              </a:rPr>
              <a:t>Explain why a rival priced the way they did.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5138928"/>
            <a:ext cx="10509199" cy="914400"/>
          </a:xfrm>
          <a:prstGeom prst="rect">
            <a:avLst/>
          </a:prstGeom>
          <a:solidFill>
            <a:srgbClr val="F5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5138928"/>
            <a:ext cx="50292" cy="914400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98448" y="5340096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B4A0C"/>
                </a:solidFill>
                <a:latin typeface="Bodoni MT"/>
              </a:rPr>
              <a:t>Its value is not that it is always right. It is that it is never confidently wrong.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206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20" cap="all">
                <a:solidFill>
                  <a:srgbClr val="A9BDB6"/>
                </a:solidFill>
                <a:latin typeface="Consolas"/>
              </a:rPr>
              <a:t>What is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7247" y="4206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spc="220">
                <a:solidFill>
                  <a:srgbClr val="F5E7CC"/>
                </a:solidFill>
                <a:latin typeface="Consolas"/>
              </a:rPr>
              <a:t>13</a:t>
            </a:r>
            <a:r>
              <a:rPr sz="850" spc="220">
                <a:solidFill>
                  <a:srgbClr val="A9BDB6"/>
                </a:solidFill>
                <a:latin typeface="Consolas"/>
              </a:rPr>
              <a:t>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713232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3737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spc="140">
                <a:solidFill>
                  <a:srgbClr val="A9BDB6"/>
                </a:solidFill>
                <a:latin typeface="Bodoni MT"/>
              </a:rPr>
              <a:t>PriceLens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950976"/>
            <a:ext cx="566928" cy="50292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10509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0" i="0">
                <a:solidFill>
                  <a:srgbClr val="F4F2EA"/>
                </a:solidFill>
                <a:latin typeface="Bodoni MT"/>
              </a:rPr>
              <a:t>Where this goes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011680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566928" cy="411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677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 cap="all">
                <a:solidFill>
                  <a:srgbClr val="F5E7CC"/>
                </a:solidFill>
                <a:latin typeface="Consolas"/>
              </a:rPr>
              <a:t>Now  · 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23744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F4F2EA"/>
                </a:solidFill>
                <a:latin typeface="Segoe UI Light"/>
              </a:rPr>
              <a:t>Link lookup, bulk sheets, saved reports, and the Excel and PDF exports.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93008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5E7CC"/>
                </a:solidFill>
                <a:latin typeface="Bodoni MT"/>
              </a:rPr>
              <a:t>In use today.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2011680"/>
            <a:ext cx="566928" cy="411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2677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 cap="all">
                <a:solidFill>
                  <a:srgbClr val="F5E7CC"/>
                </a:solidFill>
                <a:latin typeface="Consola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523744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F4F2EA"/>
                </a:solidFill>
                <a:latin typeface="Segoe UI Light"/>
              </a:rPr>
              <a:t>A daily automatic sweep, with an alert the moment a rival undercuts a watched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493008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5E7CC"/>
                </a:solidFill>
                <a:latin typeface="Bodoni MT"/>
              </a:rPr>
              <a:t>Turns a report into a warning.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566928" cy="41148"/>
          </a:xfrm>
          <a:prstGeom prst="rect">
            <a:avLst/>
          </a:prstGeom>
          <a:solidFill>
            <a:srgbClr val="C0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677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 cap="all">
                <a:solidFill>
                  <a:srgbClr val="F5E7CC"/>
                </a:solidFill>
                <a:latin typeface="Consolas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523744"/>
            <a:ext cx="30358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F4F2EA"/>
                </a:solidFill>
                <a:latin typeface="Segoe UI Light"/>
              </a:rPr>
              <a:t>Matching on our own internal product codes, which makes identity exact by definition.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93008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5E7CC"/>
                </a:solidFill>
                <a:latin typeface="Bodoni MT"/>
              </a:rPr>
              <a:t>Removes the last uncertainty.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986784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15137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200" cap="all">
                <a:solidFill>
                  <a:srgbClr val="C07A10"/>
                </a:solidFill>
                <a:latin typeface="Consolas"/>
              </a:rPr>
              <a:t>What we need from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62272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0" i="0">
                <a:solidFill>
                  <a:srgbClr val="F5E7CC"/>
                </a:solidFill>
                <a:latin typeface="Bodoni MT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99262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4F2EA"/>
                </a:solidFill>
                <a:latin typeface="Segoe UI"/>
              </a:rPr>
              <a:t>Name the team that owns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449824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A9BDB6"/>
                </a:solidFill>
                <a:latin typeface="Segoe UI"/>
              </a:rPr>
              <a:t>So the daily list has somebody reading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4462272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0" i="0">
                <a:solidFill>
                  <a:srgbClr val="F5E7CC"/>
                </a:solidFill>
                <a:latin typeface="Bodoni M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499262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4F2EA"/>
                </a:solidFill>
                <a:latin typeface="Segoe UI"/>
              </a:rPr>
              <a:t>Approve a daily sweep of the priority range.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5449824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A9BDB6"/>
                </a:solidFill>
                <a:latin typeface="Segoe UI"/>
              </a:rPr>
              <a:t>The range where a price gap costs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62272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0" i="0">
                <a:solidFill>
                  <a:srgbClr val="F5E7CC"/>
                </a:solidFill>
                <a:latin typeface="Bodoni MT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9262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4F2EA"/>
                </a:solidFill>
                <a:latin typeface="Segoe UI"/>
              </a:rPr>
              <a:t>Release the internal product-code list.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9824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A9BDB6"/>
                </a:solidFill>
                <a:latin typeface="Segoe UI"/>
              </a:rPr>
              <a:t>It makes every match exact by definition.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5815584"/>
            <a:ext cx="10509199" cy="10058"/>
          </a:xfrm>
          <a:prstGeom prst="rect">
            <a:avLst/>
          </a:prstGeom>
          <a:solidFill>
            <a:srgbClr val="2A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94360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5E7CC"/>
                </a:solidFill>
                <a:latin typeface="Bodoni MT"/>
              </a:rPr>
              <a:t>Every price in this deck is one click from the listing it came from.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